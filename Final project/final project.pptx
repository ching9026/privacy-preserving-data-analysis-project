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65" autoAdjust="0"/>
    <p:restoredTop sz="94610"/>
  </p:normalViewPr>
  <p:slideViewPr>
    <p:cSldViewPr snapToGrid="0" snapToObjects="1">
      <p:cViewPr>
        <p:scale>
          <a:sx n="124" d="100"/>
          <a:sy n="124" d="100"/>
        </p:scale>
        <p:origin x="-29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RMSE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Original</c:v>
                </c:pt>
                <c:pt idx="1">
                  <c:v>Early Stop</c:v>
                </c:pt>
                <c:pt idx="2">
                  <c:v>Predictor</c:v>
                </c:pt>
                <c:pt idx="3">
                  <c:v>Private</c:v>
                </c:pt>
                <c:pt idx="4">
                  <c:v>Staged</c:v>
                </c:pt>
                <c:pt idx="5">
                  <c:v>Reg+Val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3.5569999999999999</c:v>
                </c:pt>
                <c:pt idx="1">
                  <c:v>3.0779999999999998</c:v>
                </c:pt>
                <c:pt idx="2">
                  <c:v>3.0819999999999999</c:v>
                </c:pt>
                <c:pt idx="3">
                  <c:v>3.02</c:v>
                </c:pt>
                <c:pt idx="4">
                  <c:v>3.048</c:v>
                </c:pt>
                <c:pt idx="5">
                  <c:v>3.0550000000000002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87-4954-9C36-BA39ADF655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7"/>
          <c:min val="2.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H4</c:v>
                </c:pt>
                <c:pt idx="4">
                  <c:v>H5</c:v>
                </c:pt>
                <c:pt idx="5">
                  <c:v>H6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2.7639999999999998</c:v>
                </c:pt>
                <c:pt idx="1">
                  <c:v>3.2549999999999999</c:v>
                </c:pt>
                <c:pt idx="2">
                  <c:v>3.5289999999999999</c:v>
                </c:pt>
                <c:pt idx="3">
                  <c:v>3.75</c:v>
                </c:pt>
                <c:pt idx="4">
                  <c:v>3.9390000000000001</c:v>
                </c:pt>
                <c:pt idx="5">
                  <c:v>4.1070000000000002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0B6-437C-A61B-E58155AA51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H4</c:v>
                </c:pt>
                <c:pt idx="4">
                  <c:v>H5</c:v>
                </c:pt>
                <c:pt idx="5">
                  <c:v>H6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2.2130000000000001</c:v>
                </c:pt>
                <c:pt idx="1">
                  <c:v>2.76</c:v>
                </c:pt>
                <c:pt idx="2">
                  <c:v>3.0259999999999998</c:v>
                </c:pt>
                <c:pt idx="3">
                  <c:v>3.2189999999999999</c:v>
                </c:pt>
                <c:pt idx="4">
                  <c:v>3.38</c:v>
                </c:pt>
                <c:pt idx="5">
                  <c:v>3.52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0B6-437C-A61B-E58155AA51C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Reg+Val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H4</c:v>
                </c:pt>
                <c:pt idx="4">
                  <c:v>H5</c:v>
                </c:pt>
                <c:pt idx="5">
                  <c:v>H6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2.1850000000000001</c:v>
                </c:pt>
                <c:pt idx="1">
                  <c:v>2.7749999999999999</c:v>
                </c:pt>
                <c:pt idx="2">
                  <c:v>3.0649999999999999</c:v>
                </c:pt>
                <c:pt idx="3">
                  <c:v>3.274</c:v>
                </c:pt>
                <c:pt idx="4">
                  <c:v>3.4420000000000002</c:v>
                </c:pt>
                <c:pt idx="5">
                  <c:v>3.589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0B6-437C-A61B-E58155AA51C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Staged</c:v>
                </c:pt>
              </c:strCache>
            </c:strRef>
          </c:tx>
          <c:spPr>
            <a:ln w="25400" cap="flat">
              <a:solidFill>
                <a:srgbClr val="8064A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064A2"/>
              </a:solidFill>
              <a:ln w="9525" cap="flat">
                <a:solidFill>
                  <a:srgbClr val="8064A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H4</c:v>
                </c:pt>
                <c:pt idx="4">
                  <c:v>H5</c:v>
                </c:pt>
                <c:pt idx="5">
                  <c:v>H6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2.2639999999999998</c:v>
                </c:pt>
                <c:pt idx="1">
                  <c:v>2.806</c:v>
                </c:pt>
                <c:pt idx="2">
                  <c:v>3.0659999999999998</c:v>
                </c:pt>
                <c:pt idx="3">
                  <c:v>3.2450000000000001</c:v>
                </c:pt>
                <c:pt idx="4">
                  <c:v>3.3889999999999998</c:v>
                </c:pt>
                <c:pt idx="5">
                  <c:v>3.5179999999999998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0B6-437C-A61B-E58155AA51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25"/>
          <c:min val="2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Noto Sans CJK TC"/>
              <a:cs typeface="Noto Sans CJK T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Original</c:v>
                </c:pt>
                <c:pt idx="1">
                  <c:v>Early Stop</c:v>
                </c:pt>
                <c:pt idx="2">
                  <c:v>Predictor</c:v>
                </c:pt>
                <c:pt idx="3">
                  <c:v>Private</c:v>
                </c:pt>
                <c:pt idx="4">
                  <c:v>Staged</c:v>
                </c:pt>
                <c:pt idx="5">
                  <c:v>Reg+Val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2.355</c:v>
                </c:pt>
                <c:pt idx="1">
                  <c:v>2.0699999999999998</c:v>
                </c:pt>
                <c:pt idx="2">
                  <c:v>2.0630000000000002</c:v>
                </c:pt>
                <c:pt idx="3">
                  <c:v>2.0409999999999999</c:v>
                </c:pt>
                <c:pt idx="4">
                  <c:v>2.081</c:v>
                </c:pt>
                <c:pt idx="5">
                  <c:v>2.0430000000000001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D3-4EB2-9B4C-EF9ECF0028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4500000000000002"/>
          <c:min val="1.9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H4</c:v>
                </c:pt>
                <c:pt idx="4">
                  <c:v>H5</c:v>
                </c:pt>
                <c:pt idx="5">
                  <c:v>H6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1.903</c:v>
                </c:pt>
                <c:pt idx="1">
                  <c:v>2.19</c:v>
                </c:pt>
                <c:pt idx="2">
                  <c:v>2.3330000000000002</c:v>
                </c:pt>
                <c:pt idx="3">
                  <c:v>2.4569999999999999</c:v>
                </c:pt>
                <c:pt idx="4">
                  <c:v>2.5710000000000002</c:v>
                </c:pt>
                <c:pt idx="5">
                  <c:v>2.6789999999999998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0E-42E6-83F9-446B51473B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H4</c:v>
                </c:pt>
                <c:pt idx="4">
                  <c:v>H5</c:v>
                </c:pt>
                <c:pt idx="5">
                  <c:v>H6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1.5620000000000001</c:v>
                </c:pt>
                <c:pt idx="1">
                  <c:v>1.879</c:v>
                </c:pt>
                <c:pt idx="2">
                  <c:v>2.0259999999999998</c:v>
                </c:pt>
                <c:pt idx="3">
                  <c:v>2.1520000000000001</c:v>
                </c:pt>
                <c:pt idx="4">
                  <c:v>2.2639999999999998</c:v>
                </c:pt>
                <c:pt idx="5">
                  <c:v>2.3639999999999999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0E-42E6-83F9-446B51473BF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Reg+Val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H4</c:v>
                </c:pt>
                <c:pt idx="4">
                  <c:v>H5</c:v>
                </c:pt>
                <c:pt idx="5">
                  <c:v>H6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1.52</c:v>
                </c:pt>
                <c:pt idx="1">
                  <c:v>1.863</c:v>
                </c:pt>
                <c:pt idx="2">
                  <c:v>2.0270000000000001</c:v>
                </c:pt>
                <c:pt idx="3">
                  <c:v>2.1659999999999999</c:v>
                </c:pt>
                <c:pt idx="4">
                  <c:v>2.286</c:v>
                </c:pt>
                <c:pt idx="5">
                  <c:v>2.3969999999999998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90E-42E6-83F9-446B51473BF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Staged</c:v>
                </c:pt>
              </c:strCache>
            </c:strRef>
          </c:tx>
          <c:spPr>
            <a:ln w="25400" cap="flat">
              <a:solidFill>
                <a:srgbClr val="8064A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064A2"/>
              </a:solidFill>
              <a:ln w="9525" cap="flat">
                <a:solidFill>
                  <a:srgbClr val="8064A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H4</c:v>
                </c:pt>
                <c:pt idx="4">
                  <c:v>H5</c:v>
                </c:pt>
                <c:pt idx="5">
                  <c:v>H6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1.6279999999999999</c:v>
                </c:pt>
                <c:pt idx="1">
                  <c:v>1.9410000000000001</c:v>
                </c:pt>
                <c:pt idx="2">
                  <c:v>2.0830000000000002</c:v>
                </c:pt>
                <c:pt idx="3">
                  <c:v>2.1880000000000002</c:v>
                </c:pt>
                <c:pt idx="4">
                  <c:v>2.2789999999999999</c:v>
                </c:pt>
                <c:pt idx="5">
                  <c:v>2.3679999999999999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90E-42E6-83F9-446B51473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75"/>
          <c:min val="1.4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Noto Sans CJK TC"/>
              <a:cs typeface="Noto Sans CJK T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523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這一頁先用一句話帶出主題：我做的是 pFedCTP 在 target city fine-tuning 階段的改進，目標是在 target city 資料很少時提升泛化能力。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這頁的重點是鋪陳動機。交通預測不是只看時間，也要看空間；而跨城市時每個城市的道路結構與資料分布不同。target city 又常常只有少量資料，所以 fine-tuning 是最容易出問題的地方。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這頁介紹 baseline。pFedCTP 把交通預測拆成時間、空間、時空融合與 predictor。FL 階段從多個 source city 學共享知識，target city 再用本地資料微調。我的改進不大改架構，而是集中在最後 fine-tuning 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這頁要把研究缺口講清楚：原方法固定 target_epochs，但 target city 只有少量資料時，best validation loss 可能很早就出現。繼續訓練不一定變好，可能更 overfit。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這頁要把 Q1 到 Q4 當成後面方法的鋪陳。重點是：我沒有大幅更動 pFedCTP，而是比較 target fine-tuning 的策略與穩定性。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這頁總覽方法，建議不要講太細。先說三個方向：第一用 validation early stopping，第二加上參數距離 regularization，第三設計 ft_mode 讓同一份程式可以測不同更新策略。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這頁是最適合口頭報告的方法流程。先從 FL 後模型當 anchor，Stage 1 只訓練 stPredictor，Stage 2 再解凍 private modules 加 predictor，並用 regularization 與 validation early stopping 選最好的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這頁講實驗設定。重點是資料用時間順序切成 8:1:1，不用 random split，避免未來資訊洩漏。評估指標是交通預測常用的 MAE 與 RMSE，分別看六個 prediction horizons。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結果部分先講 RMSE。所有改進方法都比 original pFedCTP 好很多，其中 private-only 的平均 RMSE 最低，約 3.020，比 original 的 3.557 下降約 15.1%。折線圖也可以看到六個 horizon 上都有改善。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MAE 的趨勢與 RMSE 類似。Private-only 與 regularized+validation 都表現很好，平均 MAE 約下降 13.3%。可以說明不是只在 RMSE 上改善，平均誤差也同步降低。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這頁幫助老師聽懂結果。重點不是 staged 一定最好，而是整體結果支持：固定 epoch 不是好做法，validation-based selection 有幫助；private-only 表現最好，表示控制更新範圍能降低 overfitting。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結尾時強調貢獻：我不是提出一個完全新的模型，而是針對 pFedCTP 最後 target fine-tuning 的關鍵弱點做改進，並用實驗證明 fine-tuning 策略會明顯影響結果。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800600" y="114300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910328" y="121615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Personalized Federated Learning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54880" y="18745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pFedCTP Target City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Fine-tuning 改進研究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4773168" y="34747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validation-based fine-tuning 與 regularization 改善低資料目標城市的交通預測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94360" y="6035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隱私保護資料分析期末專案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73168" y="44988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報告重點：問題 → 方法 → 實驗結果 → 結論</a:t>
            </a:r>
            <a:endParaRPr lang="en-US" sz="13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5FAF07D-F929-606B-5C42-A897401604F0}"/>
              </a:ext>
            </a:extLst>
          </p:cNvPr>
          <p:cNvSpPr txBox="1"/>
          <p:nvPr/>
        </p:nvSpPr>
        <p:spPr>
          <a:xfrm>
            <a:off x="9544929" y="6407779"/>
            <a:ext cx="2649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+mj-lt"/>
              </a:rPr>
              <a:t>組員：陳建宇、黃育柔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隱私保護資料分析期末專案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為什麼跨城市交通預測困難？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同一個模型要同時面對「時間週期」與「城市差異」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交通流量有早晚尖峰、日週期等 temporal patterns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6609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97280" y="264261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不同感測器與道路連接造成 spatial relationships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97280" y="32278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目標城市資料少，直接 fine-tuning 容易 overfitting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20840" y="16002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EAF3FF"/>
          </a:solidFill>
          <a:ln w="1524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830568" y="1719072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 cities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資料較多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32520" y="16002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E8FAFA"/>
          </a:solidFill>
          <a:ln w="1524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42248" y="1719072"/>
            <a:ext cx="1380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Federated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652760" y="16002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DECEC"/>
          </a:solidFill>
          <a:ln w="1524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0762488" y="1719072"/>
            <a:ext cx="1014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Target city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資料稀少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1993392"/>
            <a:ext cx="228600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332720" y="1993392"/>
            <a:ext cx="320040" cy="0"/>
          </a:xfrm>
          <a:prstGeom prst="line">
            <a:avLst/>
          </a:prstGeom>
          <a:noFill/>
          <a:ln w="20320">
            <a:solidFill>
              <a:srgbClr val="00A3A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583680" y="3246120"/>
            <a:ext cx="507492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92240" y="3090672"/>
            <a:ext cx="292608" cy="2926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382512" y="3611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0" y="3090672"/>
            <a:ext cx="292608" cy="2926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388352" y="3611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03920" y="3090672"/>
            <a:ext cx="292608" cy="2926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8394192" y="3611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509760" y="3090672"/>
            <a:ext cx="292608" cy="292608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9400032" y="3611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515600" y="3090672"/>
            <a:ext cx="292608" cy="292608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10405872" y="3611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521440" y="3090672"/>
            <a:ext cx="292608" cy="292608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11411712" y="3611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37960" y="416052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時間序列切分不能亂切，否則容易造成未來資訊洩漏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37960" y="4892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B575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Low-resource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537960" y="5422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target city 情境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66760" y="4892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Non-IID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366760" y="54223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跨城市資料分布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12680" y="4892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3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Overfit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10012680" y="5422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少量資料微調風險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隱私保護資料分析期末專案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原始 pFedCTP：共享交通模式，保留城市個人化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ST-Net 模組拆解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5596128"/>
            <a:ext cx="2331720" cy="530352"/>
          </a:xfrm>
          <a:prstGeom prst="roundRect">
            <a:avLst>
              <a:gd name="adj" fmla="val 10345"/>
            </a:avLst>
          </a:prstGeom>
          <a:solidFill>
            <a:srgbClr val="EAF3FF"/>
          </a:solidFill>
          <a:ln w="1524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978408" y="5715000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TP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學習時間模式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30168" y="5596128"/>
            <a:ext cx="2331720" cy="530352"/>
          </a:xfrm>
          <a:prstGeom prst="roundRect">
            <a:avLst>
              <a:gd name="adj" fmla="val 10345"/>
            </a:avLst>
          </a:prstGeom>
          <a:solidFill>
            <a:srgbClr val="E8FAFA"/>
          </a:solidFill>
          <a:ln w="1524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739896" y="5715000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學習道路空間結構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91656" y="5596128"/>
            <a:ext cx="2331720" cy="530352"/>
          </a:xfrm>
          <a:prstGeom prst="roundRect">
            <a:avLst>
              <a:gd name="adj" fmla="val 10345"/>
            </a:avLst>
          </a:prstGeom>
          <a:solidFill>
            <a:srgbClr val="FFF8DA"/>
          </a:solidFill>
          <a:ln w="1524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6501384" y="5715000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整合時空表示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53144" y="5596128"/>
            <a:ext cx="2331720" cy="530352"/>
          </a:xfrm>
          <a:prstGeom prst="roundRect">
            <a:avLst>
              <a:gd name="adj" fmla="val 10345"/>
            </a:avLst>
          </a:prstGeom>
          <a:solidFill>
            <a:srgbClr val="FDECEC"/>
          </a:solidFill>
          <a:ln w="1524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9262872" y="5715000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Predictor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輸出未來多步預測</a:t>
            </a:r>
            <a:endParaRPr lang="en-US" sz="1250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10AFF1CC-4F83-33B8-19AA-3999E0FAB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44" y="1233674"/>
            <a:ext cx="10919688" cy="43030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隱私保護資料分析期末專案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主要問題：固定 epoch 可能不是最佳微調時間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原始設定：target city 固定訓練 target_epochs，例如 50 epochs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Validation loss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0644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Epoch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4617720"/>
            <a:ext cx="5349240" cy="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051560" y="4617720"/>
            <a:ext cx="0" cy="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234440" y="4160520"/>
            <a:ext cx="640080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874520" y="3401568"/>
            <a:ext cx="640080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2514600" y="2944368"/>
            <a:ext cx="640080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154680" y="2697480"/>
            <a:ext cx="640080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794760" y="2606040"/>
            <a:ext cx="640080" cy="18288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434840" y="2788920"/>
            <a:ext cx="640080" cy="338328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074920" y="3127248"/>
            <a:ext cx="640080" cy="438912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794760" y="2103120"/>
            <a:ext cx="0" cy="2514600"/>
          </a:xfrm>
          <a:prstGeom prst="line">
            <a:avLst/>
          </a:prstGeom>
          <a:noFill/>
          <a:ln w="1524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3832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575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最佳 epoch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3931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575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繼續訓練：可能開始過擬合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12280" y="18928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132320" y="18745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target city 資料量少，最佳模型可能在前幾個 epoch 出現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12280" y="25786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132320" y="25603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 epoch 無法根據 validation performance 自動選模型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12280" y="32644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132320" y="32461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模型參數可能偏離 FL 後的跨城市 representation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12280" y="4617720"/>
            <a:ext cx="4069080" cy="68580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7086600" y="473659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575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因此本專案聚焦：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EB575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只改 target city fine-tuning 階段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隱私保護資料分析期末專案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研究問題：我要比較哪些 fine-tuning 策略？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1362456"/>
            <a:ext cx="731520" cy="493776"/>
          </a:xfrm>
          <a:prstGeom prst="roundRect">
            <a:avLst>
              <a:gd name="adj" fmla="val 14815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691640" y="1435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 epoch 是否容易造成 overfitting？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9808" y="2386584"/>
            <a:ext cx="731520" cy="493776"/>
          </a:xfrm>
          <a:prstGeom prst="roundRect">
            <a:avLst>
              <a:gd name="adj" fmla="val 14815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691640" y="24597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regularization 能否降低偏離原模型？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346557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9808" y="3410712"/>
            <a:ext cx="731520" cy="493776"/>
          </a:xfrm>
          <a:prstGeom prst="roundRect">
            <a:avLst>
              <a:gd name="adj" fmla="val 14815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691640" y="348386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不同更新範圍是否影響 target city 效能？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448970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9808" y="4434840"/>
            <a:ext cx="731520" cy="493776"/>
          </a:xfrm>
          <a:prstGeom prst="roundRect">
            <a:avLst>
              <a:gd name="adj" fmla="val 14815"/>
            </a:avLst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1691640" y="45079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分階段 fine-tuning 是否更穩定？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680960" y="1463040"/>
            <a:ext cx="0" cy="402336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0924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核心假設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92440" y="20756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2057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validation 選 best checkpoint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092440" y="26974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2679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regularization 保留跨城市知識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092440" y="33192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12480" y="33009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只解凍必要模組，降低 overfitting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092440" y="4617720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報告時可一句話總結：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「不是重做 pFedCTP，而是讓最後微調更聰明。」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隱私保護資料分析期末專案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Proposed Method：三個改進方向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EAF3FF"/>
          </a:solidFill>
          <a:ln w="1524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32688" y="1947672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Validation-based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Early Stopping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E8FAFA"/>
          </a:solidFill>
          <a:ln w="1524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864608" y="1947672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Regularized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Fine-tuning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0" y="182880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FFF8DA"/>
          </a:solidFill>
          <a:ln w="1524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796528" y="1947672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Strategy Switching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with ft_mode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7560" y="2395728"/>
            <a:ext cx="1371600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7269480" y="2395728"/>
            <a:ext cx="1371600" cy="0"/>
          </a:xfrm>
          <a:prstGeom prst="line">
            <a:avLst/>
          </a:prstGeom>
          <a:noFill/>
          <a:ln w="20320">
            <a:solidFill>
              <a:srgbClr val="00A3A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051560" y="3657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目標：讓 target city fine-tuning 自動選擇較好的訓練時機與更新範圍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4645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Early Stopping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85800" y="504748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validation loss 決定 best epoch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663440" y="4645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A3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Regularization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34840" y="504748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限制模型不要偏離 fine-tuning 前參數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412480" y="4645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2C9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ft_mode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83880" y="504748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 full / predictor-only / private-only / staged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隱私保護資料分析期末專案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重點改進：Staged Regularized Early Stopping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40280" y="2743200"/>
            <a:ext cx="1645920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5943600" y="2743200"/>
            <a:ext cx="1691640" cy="0"/>
          </a:xfrm>
          <a:prstGeom prst="line">
            <a:avLst/>
          </a:prstGeom>
          <a:noFill/>
          <a:ln w="20320">
            <a:solidFill>
              <a:srgbClr val="00A3A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9738360" y="2743200"/>
            <a:ext cx="685800" cy="0"/>
          </a:xfrm>
          <a:prstGeom prst="line">
            <a:avLst/>
          </a:prstGeom>
          <a:noFill/>
          <a:ln w="20320">
            <a:solidFill>
              <a:srgbClr val="EB57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1645920" cy="1325880"/>
          </a:xfrm>
          <a:prstGeom prst="roundRect">
            <a:avLst>
              <a:gd name="adj" fmla="val 4138"/>
            </a:avLst>
          </a:prstGeom>
          <a:solidFill>
            <a:srgbClr val="EAF3FF"/>
          </a:solidFill>
          <a:ln w="1524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86968" y="2203704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Anchor 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FL 後模型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86200" y="1993392"/>
            <a:ext cx="2057400" cy="1508760"/>
          </a:xfrm>
          <a:prstGeom prst="roundRect">
            <a:avLst>
              <a:gd name="adj" fmla="val 3636"/>
            </a:avLst>
          </a:prstGeom>
          <a:solidFill>
            <a:srgbClr val="FFF8DA"/>
          </a:solidFill>
          <a:ln w="1524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995928" y="2112264"/>
            <a:ext cx="18379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Predictor-only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Warmup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1993392"/>
            <a:ext cx="2057400" cy="1508760"/>
          </a:xfrm>
          <a:prstGeom prst="roundRect">
            <a:avLst>
              <a:gd name="adj" fmla="val 3636"/>
            </a:avLst>
          </a:prstGeom>
          <a:solidFill>
            <a:srgbClr val="E8FAFA"/>
          </a:solidFill>
          <a:ln w="1524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744968" y="2112264"/>
            <a:ext cx="18379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Private modules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Predictor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424160" y="2084832"/>
            <a:ext cx="1234440" cy="1325880"/>
          </a:xfrm>
          <a:prstGeom prst="roundRect">
            <a:avLst>
              <a:gd name="adj" fmla="val 4444"/>
            </a:avLst>
          </a:prstGeom>
          <a:solidFill>
            <a:srgbClr val="FDECEC"/>
          </a:solidFill>
          <a:ln w="1524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10533888" y="2203704"/>
            <a:ext cx="1014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Best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Checkpoint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核心想法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8646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325880" y="48463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先只訓練 prediction head，快速適應 target city 輸出分布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05840" y="5303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325880" y="5285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再解凍 private modules，調整與城市相關的時空表示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05840" y="57424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325880" y="572414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搭配 regularization 與 validation early stopping，避免 representation drift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隱私保護資料分析期末專案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實驗設計：target city scarce data 用時間順序切分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Dataset / Cities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32688" y="203911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METR-LA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4640" y="19659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8FAFA"/>
          </a:solidFill>
          <a:ln w="12700">
            <a:solidFill>
              <a:srgbClr val="E8FAF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944368" y="203911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3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PEMS-BAY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2532888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8DA"/>
          </a:solidFill>
          <a:ln w="12700">
            <a:solidFill>
              <a:srgbClr val="FFF8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32688" y="2606040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C9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Shenzhen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34640" y="2532888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2944368" y="2606040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B575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Chengdu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160" y="1508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Chronological split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852160" y="210312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852160" y="2103120"/>
            <a:ext cx="3511296" cy="457200"/>
          </a:xfrm>
          <a:prstGeom prst="roundRect">
            <a:avLst>
              <a:gd name="adj" fmla="val 12000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9363456" y="2103120"/>
            <a:ext cx="438912" cy="457200"/>
          </a:xfrm>
          <a:prstGeom prst="rect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802368" y="2103120"/>
            <a:ext cx="438912" cy="457200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967728" y="22219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Train 80%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70848" y="2679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3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 10%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66960" y="2679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575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Test 10%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" y="3657600"/>
            <a:ext cx="2926080" cy="393192"/>
          </a:xfrm>
          <a:prstGeom prst="rect">
            <a:avLst/>
          </a:prstGeom>
          <a:solidFill>
            <a:srgbClr val="102A43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896112" y="3730752"/>
            <a:ext cx="2779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Experiment Setting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749040" y="3657600"/>
            <a:ext cx="1645920" cy="393192"/>
          </a:xfrm>
          <a:prstGeom prst="rect">
            <a:avLst/>
          </a:prstGeom>
          <a:solidFill>
            <a:srgbClr val="102A43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822192" y="3730752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Value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4050792"/>
            <a:ext cx="29260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896112" y="4123944"/>
            <a:ext cx="2779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Batch size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49040" y="4050792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822192" y="4123944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32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" y="4443984"/>
            <a:ext cx="29260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896112" y="4517136"/>
            <a:ext cx="2779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Federated rounds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749040" y="4443984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3822192" y="4517136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90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22960" y="4837176"/>
            <a:ext cx="29260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896112" y="4910328"/>
            <a:ext cx="2779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Target days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749040" y="4837176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3822192" y="4910328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22960" y="5230368"/>
            <a:ext cx="29260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896112" y="5303520"/>
            <a:ext cx="2779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GCN layers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749040" y="5230368"/>
            <a:ext cx="1645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3822192" y="5303520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897880" y="37673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Evaluation：multi-step forecasting，記錄 horizon 1 至 6 的 MAE / RMSE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989320" y="44988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6309360" y="44805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MAE：平均絕對誤差，越低越好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5989320" y="49560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6309360" y="49377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RMSE：對大誤差更敏感，越低越好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5989320" y="54132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6309360" y="53949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額外觀察 best epoch 與 validation loss 變化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隱私保護資料分析期末專案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實驗結果：RMSE 明顯低於原始 pFedCTP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417320"/>
          <a:ext cx="52120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400800" y="1417320"/>
          <a:ext cx="50749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1920240" y="5760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Best avg RMSE：Private-only = 3.020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相較 Original 約降低 15.1%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隱私保護資料分析期末專案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實驗結果：MAE 也顯示 fine-tuning 改進有效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813365800"/>
              </p:ext>
            </p:extLst>
          </p:nvPr>
        </p:nvGraphicFramePr>
        <p:xfrm>
          <a:off x="731520" y="1417320"/>
          <a:ext cx="52120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400800" y="1417320"/>
          <a:ext cx="50749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1828800" y="5760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3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Best avg MAE：Private-only ≈ 2.041，Reg+Val ≈ 2.043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A3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兩者都比 Original 約降低 13.3%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隱私保護資料分析期末專案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762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結果解讀：最有效的是「控制更新範圍」與「validation 選模型」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900" dirty="0"/>
          </a:p>
        </p:txBody>
      </p:sp>
      <p:pic>
        <p:nvPicPr>
          <p:cNvPr id="31" name="圖片 30" descr="一張含有 文字, 字型, 收據, 螢幕擷取畫面 的圖片&#10;&#10;AI 產生的內容可能不正確。">
            <a:extLst>
              <a:ext uri="{FF2B5EF4-FFF2-40B4-BE49-F238E27FC236}">
                <a16:creationId xmlns:a16="http://schemas.microsoft.com/office/drawing/2014/main" id="{AB9ECCBF-73DD-FC73-A188-0C35923A7E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900"/>
          <a:stretch>
            <a:fillRect/>
          </a:stretch>
        </p:blipFill>
        <p:spPr>
          <a:xfrm>
            <a:off x="1613116" y="1884475"/>
            <a:ext cx="8588274" cy="38305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隱私保護資料分析期末專案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結論與未來工作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EAF3FF"/>
          </a:solidFill>
          <a:ln w="1524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32688" y="1719072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Conclusion 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Validation-based fine-tuning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能改善固定 epoch 問題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E8FAFA"/>
          </a:solidFill>
          <a:ln w="1524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90288" y="1719072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Conclusion 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Private-only / Reg+Val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 RMSE 與 MAE 上表現較佳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FFF8DA"/>
          </a:solidFill>
          <a:ln w="1524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247888" y="1719072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Conclusion 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Staged strategy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提供更可控的微調框架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未來可以改進的方向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41330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1148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調整 staged warmup epoch 與解凍模組範圍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460857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5902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在不同 target city 與不同 target days 下重複驗證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50840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506577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嘗試更穩定的 validation split 或 cross-validation for time series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761</Words>
  <Application>Microsoft Macintosh PowerPoint</Application>
  <PresentationFormat>寬螢幕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5" baseType="lpstr">
      <vt:lpstr>Noto Sans CJK TC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pFedCTP Target City Fine-tuning 改進研究</dc:title>
  <dc:subject>pFedCTP target city fine-tuning report deck</dc:subject>
  <dc:creator>OpenAI</dc:creator>
  <cp:lastModifiedBy>育柔 黃</cp:lastModifiedBy>
  <cp:revision>4</cp:revision>
  <dcterms:created xsi:type="dcterms:W3CDTF">2026-06-17T15:53:59Z</dcterms:created>
  <dcterms:modified xsi:type="dcterms:W3CDTF">2026-06-18T13:46:30Z</dcterms:modified>
</cp:coreProperties>
</file>